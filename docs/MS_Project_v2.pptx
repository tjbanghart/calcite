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Google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Raleway-regular.fntdata"/><Relationship Id="rId12" Type="http://schemas.openxmlformats.org/officeDocument/2006/relationships/font" Target="fonts/Raleway-bold.fntdata"/><Relationship Id="rId13" Type="http://schemas.openxmlformats.org/officeDocument/2006/relationships/font" Target="fonts/Raleway-italic.fntdata"/><Relationship Id="rId14" Type="http://schemas.openxmlformats.org/officeDocument/2006/relationships/font" Target="fonts/Raleway-boldItalic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schemas.openxmlformats.org/officeDocument/2006/relationships/font" Target="fonts/Lato-regular.fntdata"/><Relationship Id="rId20" Type="http://schemas.openxmlformats.org/officeDocument/2006/relationships/font" Target="fonts/Lato-bold.fntdata"/><Relationship Id="rId21" Type="http://schemas.openxmlformats.org/officeDocument/2006/relationships/font" Target="fonts/Lato-italic.fntdata"/><Relationship Id="rId22" Type="http://schemas.openxmlformats.org/officeDocument/2006/relationships/font" Target="fonts/Lato-boldItalic.fntdata"/><Relationship Id="rId23" Type="http://schemas.openxmlformats.org/officeDocument/2006/relationships/font" Target="fonts/GoogleSans-regular.fntdata"/><Relationship Id="rId24" Type="http://schemas.openxmlformats.org/officeDocument/2006/relationships/font" Target="fonts/GoogleSans-bold.fntdata"/><Relationship Id="rId25" Type="http://schemas.openxmlformats.org/officeDocument/2006/relationships/font" Target="fonts/GoogleSans-italic.fntdata"/><Relationship Id="rId26" Type="http://schemas.openxmlformats.org/officeDocument/2006/relationships/font" Target="fonts/GoogleSans-boldItalic.fntdata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0" Type="http://schemas.openxmlformats.org/officeDocument/2006/relationships/slide" Target="slides/slide29.xml"/><Relationship Id="rId51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634e98831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634e98831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Simple motivation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 was </a:t>
            </a:r>
            <a:r>
              <a:rPr lang="en"/>
              <a:t>familiar</a:t>
            </a:r>
            <a:r>
              <a:rPr lang="en"/>
              <a:t> with an open-source project called Calcite and wanted to do something to contribute to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At the same time, it is a general purpose adapter and didn’t touch on any of the underlying storage systems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So, had to find </a:t>
            </a:r>
            <a:r>
              <a:rPr lang="en"/>
              <a:t>something where Calcite was used in -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Saw that Flink’s SQL api is all calcite based and decided to look at that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Some limitations of Calcite require the flink community to make a lot of changes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All that said, main motivation and goal is to improve the Flink SQL optimizer in some small way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Flink has a higher level DAG that makes optimization difficult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Calcite can’t optimize a full graph - but really subtrees of that graph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With a lofty goal of bringing full optimization to Flink streaming plan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And hopefully bring this back to Calcite.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55010b719_0_4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c55010b719_0_4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Calcite is SQL engine with no storage system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Relies on adapters for access to storage </a:t>
            </a:r>
            <a:r>
              <a:rPr lang="en"/>
              <a:t>systems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Can perform query federation between multipl storage systems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 memory execution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JVM with only a few common external dependencies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55010b71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c55010b71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Image: https://nightlies.apache.org/flink/flink-docs-master/docs/concepts/flink-architecture/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Originates from the Stratosphere research project at TU Berlin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Flink treats all data as streams, enabling seamless analysis of both real-time and historical data using the same APIs and programming model.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Offers robust fault-tolerant state management, ensuring accurate results even in the face of failures.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Guarantees that each event is processed exactly once across the entire pipeline, avoiding duplicates or missed data.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Proven to scale to massive datasets and provides low-latency processing capabilities for real-time applications.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Quick note on architecture:</a:t>
            </a:r>
            <a:b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	Several client types (SQL client is just one of them)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Key Components: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JobManager: Coordinates distributed execution.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ResourceManager: Manages resources (task slots) within the cluster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Dispatcher: Accepts jobs, provides REST interface, runs WebUI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JobMaster: Manages execution of a specific job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TaskManager: Executes tasks, buffers data, and manages task slots (units of resource allocation).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-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Red arrow points to the component of Flink we are interested in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55010b719_0_4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c55010b719_0_4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CSC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03C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298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4"/>
          <p:cNvGrpSpPr/>
          <p:nvPr/>
        </p:nvGrpSpPr>
        <p:grpSpPr>
          <a:xfrm>
            <a:off x="729442" y="120006"/>
            <a:ext cx="745763" cy="45826"/>
            <a:chOff x="4580561" y="2589004"/>
            <a:chExt cx="1064464" cy="25200"/>
          </a:xfrm>
        </p:grpSpPr>
        <p:sp>
          <p:nvSpPr>
            <p:cNvPr id="25" name="Google Shape;2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03C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298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4"/>
          <p:cNvSpPr txBox="1"/>
          <p:nvPr>
            <p:ph type="title"/>
          </p:nvPr>
        </p:nvSpPr>
        <p:spPr>
          <a:xfrm>
            <a:off x="727650" y="231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7650" y="8326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729442" y="261806"/>
            <a:ext cx="745763" cy="45826"/>
            <a:chOff x="4580561" y="2589004"/>
            <a:chExt cx="1064464" cy="25200"/>
          </a:xfrm>
        </p:grpSpPr>
        <p:sp>
          <p:nvSpPr>
            <p:cNvPr id="32" name="Google Shape;3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03C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298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5"/>
          <p:cNvSpPr txBox="1"/>
          <p:nvPr>
            <p:ph type="title"/>
          </p:nvPr>
        </p:nvSpPr>
        <p:spPr>
          <a:xfrm>
            <a:off x="727800" y="4207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727713" y="10312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1991" y="10312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" name="Google Shape;47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8" name="Google Shape;48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03C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298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5" name="Google Shape;55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2" name="Google Shape;62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3" name="Google Shape;7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Content">
  <p:cSld name="CUSTOM_2_3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457175" y="1536250"/>
            <a:ext cx="4077000" cy="31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83" name="Google Shape;83;p13"/>
          <p:cNvSpPr/>
          <p:nvPr/>
        </p:nvSpPr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3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b="1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oboto"/>
              <a:buChar char="●"/>
              <a:defRPr sz="1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■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■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■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ctrTitle"/>
          </p:nvPr>
        </p:nvSpPr>
        <p:spPr>
          <a:xfrm>
            <a:off x="729450" y="124827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Cross-Query Optimization for WCOJ</a:t>
            </a:r>
            <a:endParaRPr/>
          </a:p>
        </p:txBody>
      </p:sp>
      <p:sp>
        <p:nvSpPr>
          <p:cNvPr id="90" name="Google Shape;90;p14"/>
          <p:cNvSpPr txBox="1"/>
          <p:nvPr>
            <p:ph idx="1" type="subTitle"/>
          </p:nvPr>
        </p:nvSpPr>
        <p:spPr>
          <a:xfrm>
            <a:off x="729450" y="2778125"/>
            <a:ext cx="7688100" cy="6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60"/>
              <a:t>CSE 214: Principles of Database Systems</a:t>
            </a:r>
            <a:endParaRPr sz="14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60"/>
              <a:t>Thomas Banghart</a:t>
            </a:r>
            <a:endParaRPr sz="14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60"/>
          </a:p>
        </p:txBody>
      </p:sp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50" y="4109975"/>
            <a:ext cx="3444975" cy="9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727650" y="5237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	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727650" y="576325"/>
            <a:ext cx="7688700" cy="45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pPr>
            <a:r>
              <a:t>How do we optimize a single conjunctive query?</a:t>
            </a:r>
            <a:endParaRPr>
              <a:solidFill>
                <a:srgbClr val="121212"/>
              </a:solidFill>
            </a:endParaRPr>
          </a:p>
          <a:p>
            <a:pPr lvl="1">
              <a:defRPr sz="1400"/>
            </a:pPr>
            <a:r>
              <a:t>Join ordering, access path selection, predicate pushdown</a:t>
            </a:r>
          </a:p>
          <a:p>
            <a:pPr>
              <a:defRPr sz="1600"/>
            </a:pPr>
            <a:r>
              <a:t>What about optimizing multiple queries at a time?</a:t>
            </a:r>
          </a:p>
          <a:p>
            <a:pPr lvl="1">
              <a:defRPr sz="1400"/>
            </a:pPr>
            <a:r>
              <a:t>Shared sub-expressions, common intermediate results</a:t>
            </a:r>
          </a:p>
          <a:p>
            <a:pPr lvl="1">
              <a:defRPr sz="1400"/>
            </a:pPr>
            <a:r>
              <a:t>This is generally known as the view selection problem (VSP)</a:t>
            </a:r>
          </a:p>
          <a:p>
            <a:pPr>
              <a:defRPr sz="1600"/>
            </a:pPr>
            <a:r>
              <a:t>VSP is NP-Hard -- many heuristics, many real-world systems</a:t>
            </a:r>
          </a:p>
          <a:p>
            <a:pPr lvl="1">
              <a:defRPr sz="1400"/>
            </a:pPr>
            <a:r>
              <a:t>Not a new problem: Finkelstein (1982), Sellis (1988)</a:t>
            </a:r>
          </a:p>
          <a:p>
            <a:pPr lvl="1">
              <a:defRPr sz="1400"/>
            </a:pPr>
            <a:r>
              <a:t>Shortly after System R optimizer, people started thinking about this</a:t>
            </a:r>
          </a:p>
          <a:p>
            <a:pPr lvl="1">
              <a:defRPr sz="1400"/>
            </a:pPr>
            <a:r>
              <a:t>Modern systems: SparkCruise, Amazon Athena fusion, QPipe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220300" y="986250"/>
            <a:ext cx="5199900" cy="7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“</a:t>
            </a:r>
            <a:r>
              <a:rPr lang="en">
                <a:solidFill>
                  <a:srgbClr val="000000"/>
                </a:solidFill>
              </a:rPr>
              <a:t>Everything a database does except storage”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112575" y="1708650"/>
            <a:ext cx="1065000" cy="3933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SQL</a:t>
            </a:r>
            <a:endParaRPr sz="1100"/>
          </a:p>
        </p:txBody>
      </p:sp>
      <p:sp>
        <p:nvSpPr>
          <p:cNvPr id="104" name="Google Shape;104;p16"/>
          <p:cNvSpPr/>
          <p:nvPr/>
        </p:nvSpPr>
        <p:spPr>
          <a:xfrm>
            <a:off x="5112425" y="2264325"/>
            <a:ext cx="1065000" cy="393300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SQL parser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8055675" y="3382075"/>
            <a:ext cx="1065000" cy="3933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Pluggable rewrite rules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055675" y="3944150"/>
            <a:ext cx="1065000" cy="3933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Pluggable stats / cost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7360000" y="2820000"/>
            <a:ext cx="1760700" cy="3933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Pluggable catalog, conformance, operators</a:t>
            </a:r>
            <a:endParaRPr sz="1100">
              <a:solidFill>
                <a:srgbClr val="FFFFFF"/>
              </a:solidFill>
            </a:endParaRPr>
          </a:p>
        </p:txBody>
      </p:sp>
      <p:cxnSp>
        <p:nvCxnSpPr>
          <p:cNvPr id="108" name="Google Shape;108;p16"/>
          <p:cNvCxnSpPr/>
          <p:nvPr/>
        </p:nvCxnSpPr>
        <p:spPr>
          <a:xfrm>
            <a:off x="5645075" y="2651100"/>
            <a:ext cx="0" cy="168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6"/>
          <p:cNvCxnSpPr/>
          <p:nvPr/>
        </p:nvCxnSpPr>
        <p:spPr>
          <a:xfrm>
            <a:off x="5645075" y="3213175"/>
            <a:ext cx="0" cy="168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6"/>
          <p:cNvCxnSpPr/>
          <p:nvPr/>
        </p:nvCxnSpPr>
        <p:spPr>
          <a:xfrm>
            <a:off x="5645075" y="3775375"/>
            <a:ext cx="0" cy="160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6"/>
          <p:cNvCxnSpPr>
            <a:stCxn id="107" idx="1"/>
            <a:endCxn id="112" idx="3"/>
          </p:cNvCxnSpPr>
          <p:nvPr/>
        </p:nvCxnSpPr>
        <p:spPr>
          <a:xfrm rot="10800000">
            <a:off x="6177700" y="3016650"/>
            <a:ext cx="1182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6"/>
          <p:cNvCxnSpPr/>
          <p:nvPr/>
        </p:nvCxnSpPr>
        <p:spPr>
          <a:xfrm rot="10800000">
            <a:off x="6177625" y="3578725"/>
            <a:ext cx="406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" name="Google Shape;114;p16"/>
          <p:cNvCxnSpPr>
            <a:stCxn id="105" idx="1"/>
          </p:cNvCxnSpPr>
          <p:nvPr/>
        </p:nvCxnSpPr>
        <p:spPr>
          <a:xfrm rot="10800000">
            <a:off x="7649175" y="3578725"/>
            <a:ext cx="406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6"/>
          <p:cNvCxnSpPr>
            <a:stCxn id="106" idx="1"/>
            <a:endCxn id="116" idx="3"/>
          </p:cNvCxnSpPr>
          <p:nvPr/>
        </p:nvCxnSpPr>
        <p:spPr>
          <a:xfrm rot="10800000">
            <a:off x="7649175" y="3578600"/>
            <a:ext cx="406500" cy="562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6"/>
          <p:cNvSpPr/>
          <p:nvPr/>
        </p:nvSpPr>
        <p:spPr>
          <a:xfrm>
            <a:off x="5112575" y="3935700"/>
            <a:ext cx="1065000" cy="12078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Adapter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195825" y="4268950"/>
            <a:ext cx="898500" cy="393300"/>
          </a:xfrm>
          <a:prstGeom prst="roundRect">
            <a:avLst>
              <a:gd fmla="val 16667" name="adj"/>
            </a:avLst>
          </a:prstGeom>
          <a:solidFill>
            <a:srgbClr val="274E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Physical operators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271425" y="4730750"/>
            <a:ext cx="747300" cy="320100"/>
          </a:xfrm>
          <a:prstGeom prst="can">
            <a:avLst>
              <a:gd fmla="val 25000" name="adj"/>
            </a:avLst>
          </a:prstGeom>
          <a:solidFill>
            <a:srgbClr val="274E1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Storage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112575" y="2820000"/>
            <a:ext cx="1065000" cy="393300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SQL validator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584125" y="3382075"/>
            <a:ext cx="1065000" cy="393300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Query planner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112425" y="3375675"/>
            <a:ext cx="1065000" cy="3933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Relational algebra</a:t>
            </a:r>
            <a:endParaRPr sz="1000"/>
          </a:p>
        </p:txBody>
      </p:sp>
      <p:cxnSp>
        <p:nvCxnSpPr>
          <p:cNvPr id="121" name="Google Shape;121;p16"/>
          <p:cNvCxnSpPr>
            <a:stCxn id="103" idx="4"/>
            <a:endCxn id="104" idx="0"/>
          </p:cNvCxnSpPr>
          <p:nvPr/>
        </p:nvCxnSpPr>
        <p:spPr>
          <a:xfrm>
            <a:off x="5645075" y="2101950"/>
            <a:ext cx="0" cy="162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6"/>
          <p:cNvSpPr/>
          <p:nvPr/>
        </p:nvSpPr>
        <p:spPr>
          <a:xfrm>
            <a:off x="7649125" y="2257925"/>
            <a:ext cx="1471500" cy="3933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Pluggable parser, lexical rules</a:t>
            </a:r>
            <a:endParaRPr sz="1100">
              <a:solidFill>
                <a:srgbClr val="FFFFFF"/>
              </a:solidFill>
            </a:endParaRPr>
          </a:p>
        </p:txBody>
      </p:sp>
      <p:cxnSp>
        <p:nvCxnSpPr>
          <p:cNvPr id="123" name="Google Shape;123;p16"/>
          <p:cNvCxnSpPr>
            <a:stCxn id="122" idx="1"/>
            <a:endCxn id="104" idx="3"/>
          </p:cNvCxnSpPr>
          <p:nvPr/>
        </p:nvCxnSpPr>
        <p:spPr>
          <a:xfrm flipH="1">
            <a:off x="6177325" y="2454575"/>
            <a:ext cx="1471800" cy="6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6"/>
          <p:cNvSpPr txBox="1"/>
          <p:nvPr/>
        </p:nvSpPr>
        <p:spPr>
          <a:xfrm>
            <a:off x="5339800" y="1135800"/>
            <a:ext cx="3647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(Query plan + SQL Generation)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4025" y="248800"/>
            <a:ext cx="2950200" cy="6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300" y="1501525"/>
            <a:ext cx="4525200" cy="34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3722100" y="2036550"/>
            <a:ext cx="1699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Not much has been done to cross MQO with worst-case optimal joins</a:t>
            </a:r>
          </a:p>
          <a:p>
            <a:pPr lvl="1">
              <a:defRPr sz="1200"/>
            </a:pPr>
            <a:r>
              <a:t>WCOJ creates new structures to share -- not just the classic VSP</a:t>
            </a:r>
          </a:p>
          <a:p>
            <a:pPr lvl="1">
              <a:defRPr sz="1200"/>
            </a:pPr>
            <a:r>
              <a:t>Hash tries, search-space traversals, variable-prefix bindings</a:t>
            </a:r>
          </a:p>
          <a:p>
            <a:pPr>
              <a:defRPr sz="1400"/>
            </a:pPr>
            <a:r>
              <a:t>This is a systems problem, not just an optimization problem</a:t>
            </a:r>
          </a:p>
          <a:p>
            <a:pPr lvl="1">
              <a:defRPr sz="1200"/>
            </a:pPr>
            <a:r>
              <a:t>How do you construct and reliably share data structures at runtime?</a:t>
            </a:r>
          </a:p>
          <a:p>
            <a:pPr lvl="1">
              <a:defRPr sz="1200"/>
            </a:pPr>
            <a:r>
              <a:t>What would it look like integrated into a real query engine?</a:t>
            </a:r>
          </a:p>
          <a:p>
            <a:pPr>
              <a:defRPr sz="1400"/>
            </a:pPr>
            <a:r>
              <a:t>Open questions:</a:t>
            </a:r>
          </a:p>
          <a:p>
            <a:pPr lvl="1">
              <a:defRPr sz="1200"/>
            </a:pPr>
            <a:r>
              <a:t>How would one implement this in an existing optimizer?</a:t>
            </a:r>
          </a:p>
          <a:p>
            <a:pPr lvl="1">
              <a:defRPr sz="1200"/>
            </a:pPr>
            <a:r>
              <a:t>Is there a theoretical backing for cost estimates?</a:t>
            </a:r>
          </a:p>
          <a:p>
            <a:pPr lvl="1">
              <a:defRPr sz="1200"/>
            </a:pPr>
            <a:r>
              <a:t>When does sharing actually help vs. hurt?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MULTI() Syntax &amp; the Combine Operator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New SQL syntax: MULTI((query1), (query2), ...)</a:t>
            </a:r>
          </a:p>
          <a:p>
            <a:pPr lvl="1">
              <a:defRPr sz="1200"/>
            </a:pPr>
            <a:r>
              <a:t>Parser produces a SqlCall with SqlKind.MULTI</a:t>
            </a:r>
          </a:p>
          <a:p>
            <a:pPr lvl="1">
              <a:defRPr sz="1200"/>
            </a:pPr>
            <a:r>
              <a:t>Each sub-query is independently converted to a RelNode</a:t>
            </a:r>
          </a:p>
          <a:p>
            <a:pPr>
              <a:defRPr sz="1400"/>
            </a:pPr>
            <a:r>
              <a:t>The Combine operator: a trivial way to hold multiple RelNodes</a:t>
            </a:r>
          </a:p>
          <a:p>
            <a:pPr lvl="1">
              <a:defRPr sz="1200"/>
            </a:pPr>
            <a:r>
              <a:t>Single output row = struct of per-query result lists</a:t>
            </a:r>
          </a:p>
          <a:p>
            <a:pPr lvl="1">
              <a:defRPr sz="1200"/>
            </a:pPr>
            <a:r>
              <a:t>Optimizer sees all queries simultaneously</a:t>
            </a:r>
          </a:p>
          <a:p>
            <a:pPr lvl="1">
              <a:defRPr sz="1200"/>
            </a:pPr>
            <a:r>
              <a:t>Sub-queries can use WCOJ, binary joins, or anything else</a:t>
            </a:r>
          </a:p>
          <a:p>
            <a:pPr>
              <a:defRPr sz="1400"/>
            </a:pPr>
            <a:r>
              <a:t>This work is actually in Calcite today</a:t>
            </a:r>
          </a:p>
          <a:p>
            <a:pPr lvl="1">
              <a:defRPr sz="1200"/>
            </a:pPr>
            <a:r>
              <a:t>Modular, opt-in -- doesn't change existing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MULTI(): SQL to Calcite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300"/>
            </a:pPr>
            <a:r>
              <a:t>SQL:</a:t>
            </a:r>
          </a:p>
          <a:p>
            <a:pPr lvl="1">
              <a:defRPr sz="1100"/>
            </a:pPr>
            <a:r>
              <a:t>MULTI(</a:t>
            </a:r>
          </a:p>
          <a:p>
            <a:pPr lvl="1">
              <a:defRPr sz="1100"/>
            </a:pPr>
            <a:r>
              <a:t>  (SELECT e1.src, e1.dst, e2.dst</a:t>
            </a:r>
          </a:p>
          <a:p>
            <a:pPr lvl="1">
              <a:defRPr sz="1100"/>
            </a:pPr>
            <a:r>
              <a:t>   FROM edges e1, e2, e3</a:t>
            </a:r>
          </a:p>
          <a:p>
            <a:pPr lvl="1">
              <a:defRPr sz="1100"/>
            </a:pPr>
            <a:r>
              <a:t>   WHERE e1.dst=e2.src</a:t>
            </a:r>
          </a:p>
          <a:p>
            <a:pPr lvl="1">
              <a:defRPr sz="1100"/>
            </a:pPr>
            <a:r>
              <a:t>   AND e2.dst=e3.src</a:t>
            </a:r>
          </a:p>
          <a:p>
            <a:pPr lvl="1">
              <a:defRPr sz="1100"/>
            </a:pPr>
            <a:r>
              <a:t>   AND e3.dst=e1.src),</a:t>
            </a:r>
          </a:p>
          <a:p>
            <a:pPr lvl="1">
              <a:defRPr sz="1100"/>
            </a:pPr>
            <a:r>
              <a:t>  (SELECT e1.src, e2.src, e3.src</a:t>
            </a:r>
          </a:p>
          <a:p>
            <a:pPr lvl="1">
              <a:defRPr sz="1100"/>
            </a:pPr>
            <a:r>
              <a:t>   FROM edges e1, e2, e3</a:t>
            </a:r>
          </a:p>
          <a:p>
            <a:pPr lvl="1">
              <a:defRPr sz="1100"/>
            </a:pPr>
            <a:r>
              <a:t>   WHERE ...same predicates...)</a:t>
            </a:r>
          </a:p>
          <a:p>
            <a:pPr lvl="1">
              <a:defRPr sz="1100"/>
            </a:pPr>
            <a:r>
              <a:t>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defRPr sz="1300"/>
            </a:pPr>
            <a:r>
              <a:t>Calcite plan (after WCOJ rule):</a:t>
            </a:r>
          </a:p>
          <a:p>
            <a:pPr lvl="1">
              <a:defRPr sz="1100"/>
            </a:pPr>
            <a:r>
              <a:t>EnumerableCombine</a:t>
            </a:r>
          </a:p>
          <a:p>
            <a:pPr lvl="1">
              <a:defRPr sz="1100"/>
            </a:pPr>
            <a:r>
              <a:t>  EnumerableCalc(proj=[src,dst,dst])</a:t>
            </a:r>
          </a:p>
          <a:p>
            <a:pPr lvl="1">
              <a:defRPr sz="1100"/>
            </a:pPr>
            <a:r>
              <a:t>    EnumerableWCOJ(variables=</a:t>
            </a:r>
          </a:p>
          <a:p>
            <a:pPr lvl="1">
              <a:defRPr sz="1100"/>
            </a:pPr>
            <a:r>
              <a:t>      [Var0[(0,1),(2,1)],</a:t>
            </a:r>
          </a:p>
          <a:p>
            <a:pPr lvl="1">
              <a:defRPr sz="1100"/>
            </a:pPr>
            <a:r>
              <a:t>       Var1[(0,0),(1,0)],</a:t>
            </a:r>
          </a:p>
          <a:p>
            <a:pPr lvl="1">
              <a:defRPr sz="1100"/>
            </a:pPr>
            <a:r>
              <a:t>       Var2[(1,1),(2,0)]])</a:t>
            </a:r>
          </a:p>
          <a:p>
            <a:pPr lvl="1">
              <a:defRPr sz="1100"/>
            </a:pPr>
            <a:r>
              <a:t>      EnumerableTableScan([edges])</a:t>
            </a:r>
          </a:p>
          <a:p>
            <a:pPr lvl="1">
              <a:defRPr sz="1100"/>
            </a:pPr>
            <a:r>
              <a:t>      EnumerableTableScan([edges])</a:t>
            </a:r>
          </a:p>
          <a:p>
            <a:pPr lvl="1">
              <a:defRPr sz="1100"/>
            </a:pPr>
            <a:r>
              <a:t>      EnumerableTableScan([edges])</a:t>
            </a:r>
          </a:p>
          <a:p>
            <a:pPr lvl="1">
              <a:defRPr sz="1100"/>
            </a:pPr>
            <a:r>
              <a:t>  EnumerableCalc(proj=[src,src,src])</a:t>
            </a:r>
          </a:p>
          <a:p>
            <a:pPr lvl="1">
              <a:defRPr sz="1100"/>
            </a:pPr>
            <a:r>
              <a:t>    EnumerableWCOJ(...same...)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Same WCOJ, different projections</a:t>
            </a:r>
          </a:p>
          <a:p>
            <a:pPr lvl="1">
              <a:defRPr sz="1100"/>
            </a:pPr>
            <a:r>
              <a:t>=&gt; trie cache, spool, prefix share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6993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WCOJ: Three Ways to 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Cached Hash Tries</a:t>
            </a:r>
          </a:p>
        </p:txBody>
      </p:sp>
      <p:pic>
        <p:nvPicPr>
          <p:cNvPr id="3" name="Picture 2" descr="sharing_trie_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000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Sub-Expression Sharing via Spools</a:t>
            </a:r>
          </a:p>
        </p:txBody>
      </p:sp>
      <p:pic>
        <p:nvPicPr>
          <p:cNvPr id="3" name="Picture 2" descr="sharing_spoo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1971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Shared-Prefix Execution</a:t>
            </a:r>
          </a:p>
        </p:txBody>
      </p:sp>
      <p:pic>
        <p:nvPicPr>
          <p:cNvPr id="3" name="Picture 2" descr="sharing_pre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881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Tested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300"/>
            </a:pPr>
            <a:r>
              <a:t>Synthetic graphs (best case for WCOJ)</a:t>
            </a:r>
          </a:p>
          <a:p>
            <a:pPr lvl="1">
              <a:defRPr sz="1100"/>
            </a:pPr>
            <a:r>
              <a:t>Random directed graphs with a few popular hub nodes</a:t>
            </a:r>
          </a:p>
          <a:p>
            <a:pPr lvl="1">
              <a:defRPr sz="1100"/>
            </a:pPr>
            <a:r>
              <a:t>Hub nodes have lots of connections, most nodes don't</a:t>
            </a:r>
          </a:p>
          <a:p>
            <a:pPr lvl="1">
              <a:defRPr sz="1100"/>
            </a:pPr>
            <a:r>
              <a:t>Like a social network: a few celebrities, many regular users</a:t>
            </a:r>
          </a:p>
          <a:p>
            <a:pPr lvl="1">
              <a:defRPr sz="1100"/>
            </a:pPr>
            <a:r>
              <a:t>Query: find all triangles (A knows B, B knows C, C knows A)</a:t>
            </a:r>
          </a:p>
          <a:p>
            <a:pPr lvl="1">
              <a:defRPr sz="1100"/>
            </a:pPr>
            <a:r>
              <a:t>Binary joins blow up because hubs create huge intermediates</a:t>
            </a:r>
          </a:p>
          <a:p>
            <a:pPr lvl="1">
              <a:defRPr sz="1100"/>
            </a:pPr>
            <a:r>
              <a:t>Run the same triangle query 5-20 times with different output columns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defRPr sz="1300"/>
            </a:pPr>
            <a:r>
              <a:t>TPC-H (realistic data, ~60 MB)</a:t>
            </a:r>
          </a:p>
          <a:p>
            <a:pPr lvl="1">
              <a:defRPr sz="1100"/>
            </a:pPr>
            <a:r>
              <a:t>Self-join: take the lineitem table (order line items)</a:t>
            </a:r>
          </a:p>
          <a:p>
            <a:pPr lvl="1">
              <a:defRPr sz="1100"/>
            </a:pPr>
            <a:r>
              <a:t>  and join it against itself on different columns</a:t>
            </a:r>
          </a:p>
          <a:p>
            <a:pPr lvl="1">
              <a:defRPr sz="1100"/>
            </a:pPr>
            <a:r>
              <a:t>  "find items in the same order from the same supplier</a:t>
            </a:r>
          </a:p>
          <a:p>
            <a:pPr lvl="1">
              <a:defRPr sz="1100"/>
            </a:pPr>
            <a:r>
              <a:t>   for the same part" -- 2.9M matches</a:t>
            </a:r>
          </a:p>
          <a:p>
            <a:pPr lvl="1">
              <a:defRPr sz="1100"/>
            </a:pPr>
            <a:r>
              <a:t>FK joins: chain across real tables</a:t>
            </a:r>
          </a:p>
          <a:p>
            <a:pPr lvl="1">
              <a:defRPr sz="1100"/>
            </a:pPr>
            <a:r>
              <a:t>  customer -&gt; orders -&gt; lineitem -&gt; supplier</a:t>
            </a:r>
          </a:p>
          <a:p>
            <a:pPr lvl="1">
              <a:defRPr sz="1100"/>
            </a:pPr>
            <a:r>
              <a:t>  "which customers bought from suppliers in the</a:t>
            </a:r>
          </a:p>
          <a:p>
            <a:pPr lvl="1">
              <a:defRPr sz="1100"/>
            </a:pPr>
            <a:r>
              <a:t>   same country?" -- cycle closes on nationkey</a:t>
            </a:r>
          </a:p>
          <a:p>
            <a:pPr lvl="1">
              <a:defRPr sz="1100"/>
            </a:pPr>
            <a:r>
              <a:t>  Only 25 countries, so binary joins prune fast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Hardware: M4 Pro, 48 GB, JDK 21, 2 GB heap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Synthetic: Triangle Query on a Graph</a:t>
            </a:r>
          </a:p>
        </p:txBody>
      </p:sp>
      <p:pic>
        <p:nvPicPr>
          <p:cNvPr id="3" name="Picture 2" descr="query_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486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TPC-H: Self-Join Triangle</a:t>
            </a:r>
          </a:p>
        </p:txBody>
      </p:sp>
      <p:pic>
        <p:nvPicPr>
          <p:cNvPr id="3" name="Picture 2" descr="query_self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595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TPC-H: FK Cycle Across Tables</a:t>
            </a:r>
          </a:p>
        </p:txBody>
      </p:sp>
      <p:pic>
        <p:nvPicPr>
          <p:cNvPr id="3" name="Picture 2" descr="query_fk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595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Modes: What Are We Comparing?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Baseline: standard Calcite with binary hash joins, queries run one at a time</a:t>
            </a:r>
          </a:p>
          <a:p>
            <a:pPr lvl="1">
              <a:defRPr sz="1200"/>
            </a:pPr>
            <a:r>
              <a:t>This is what Calcite does today without our changes</a:t>
            </a:r>
          </a:p>
          <a:p>
            <a:pPr>
              <a:defRPr sz="1400"/>
            </a:pPr>
            <a:r>
              <a:t>WCOJ: replace binary joins with our WCOJ operator, still one query at a time</a:t>
            </a:r>
          </a:p>
          <a:p>
            <a:pPr lvl="1">
              <a:defRPr sz="1200"/>
            </a:pPr>
            <a:r>
              <a:t>Tests whether WCOJ alone helps, independent of batching</a:t>
            </a:r>
          </a:p>
          <a:p>
            <a:pPr>
              <a:defRPr sz="1400"/>
            </a:pPr>
            <a:r>
              <a:t>Combine: batch N queries with MULTI(), WCOJ + trie caching</a:t>
            </a:r>
          </a:p>
          <a:p>
            <a:pPr lvl="1">
              <a:defRPr sz="1200"/>
            </a:pPr>
            <a:r>
              <a:t>Tests whether running queries together and sharing tries helps</a:t>
            </a:r>
          </a:p>
          <a:p>
            <a:pPr>
              <a:defRPr sz="1400"/>
            </a:pPr>
            <a:r>
              <a:t>Combine-Share: same as Combine + sub-expression spooling + prefix sharing</a:t>
            </a:r>
          </a:p>
          <a:p>
            <a:pPr lvl="1">
              <a:defRPr sz="1200"/>
            </a:pPr>
            <a:r>
              <a:t>Tests whether the full sharing machinery adds value</a:t>
            </a:r>
          </a:p>
          <a:p>
            <a:pPr>
              <a:defRPr sz="1400"/>
            </a:pPr>
            <a:r>
              <a:t>Combine-Binary: batch N queries with MULTI() but use binary joins (no WCOJ)</a:t>
            </a:r>
          </a:p>
          <a:p>
            <a:pPr lvl="1">
              <a:defRPr sz="1200"/>
            </a:pPr>
            <a:r>
              <a:t>Isolates the contribution of batching from WCOJ -- TPC-H 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with Graph Size</a:t>
            </a:r>
          </a:p>
        </p:txBody>
      </p:sp>
      <p:pic>
        <p:nvPicPr>
          <p:cNvPr id="3" name="Picture 2" descr="sca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029200" cy="2457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Test: how does performance change as</a:t>
            </a:r>
          </a:p>
          <a:p>
            <a:pPr>
              <a:defRPr sz="1200"/>
            </a:pPr>
            <a:r>
              <a:t>the graph gets bigger?</a:t>
            </a:r>
          </a:p>
          <a:p>
            <a:pPr lvl="1">
              <a:defRPr sz="1000"/>
            </a:pPr>
            <a:r>
              <a:t>Fix batch at N=5 triangle queries</a:t>
            </a:r>
          </a:p>
          <a:p>
            <a:pPr lvl="1">
              <a:defRPr sz="1000"/>
            </a:pPr>
            <a:r>
              <a:t>Grow graph: 50 to 400 nodes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Result:</a:t>
            </a:r>
          </a:p>
          <a:p>
            <a:pPr lvl="1">
              <a:defRPr sz="1000"/>
            </a:pPr>
            <a:r>
              <a:t>Baseline grows super-linearly</a:t>
            </a:r>
          </a:p>
          <a:p>
            <a:pPr lvl="1">
              <a:defRPr sz="1000"/>
            </a:pPr>
            <a:r>
              <a:t>  (bigger graph = worse intermediate blowup)</a:t>
            </a:r>
          </a:p>
          <a:p>
            <a:pPr lvl="1">
              <a:defRPr sz="1000"/>
            </a:pPr>
            <a:r>
              <a:t>WCOJ stays flat -- scales with output</a:t>
            </a:r>
          </a:p>
          <a:p>
            <a:pPr lvl="1">
              <a:defRPr sz="1000"/>
            </a:pPr>
            <a:r>
              <a:t>Speedup widens: 1.5x to 4.0x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Multi-Query Speedup</a:t>
            </a:r>
          </a:p>
        </p:txBody>
      </p:sp>
      <p:pic>
        <p:nvPicPr>
          <p:cNvPr id="3" name="Picture 2" descr="batch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029200" cy="2457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Test: does batching more queries</a:t>
            </a:r>
          </a:p>
          <a:p>
            <a:pPr>
              <a:defRPr sz="1200"/>
            </a:pPr>
            <a:r>
              <a:t>together help?</a:t>
            </a:r>
          </a:p>
          <a:p>
            <a:pPr lvl="1">
              <a:defRPr sz="1000"/>
            </a:pPr>
            <a:r>
              <a:t>Fix graph at 200 nodes, 2000 edges</a:t>
            </a:r>
          </a:p>
          <a:p>
            <a:pPr lvl="1">
              <a:defRPr sz="1000"/>
            </a:pPr>
            <a:r>
              <a:t>Grow batch: N=5 to N=20 queries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Result:</a:t>
            </a:r>
          </a:p>
          <a:p>
            <a:pPr lvl="1">
              <a:defRPr sz="1000"/>
            </a:pPr>
            <a:r>
              <a:t>Baseline scales linearly (more queries = more time)</a:t>
            </a:r>
          </a:p>
          <a:p>
            <a:pPr lvl="1">
              <a:defRPr sz="1000"/>
            </a:pPr>
            <a:r>
              <a:t>Combine/C-Share scale sub-linearly</a:t>
            </a:r>
          </a:p>
          <a:p>
            <a:pPr lvl="1">
              <a:defRPr sz="1000"/>
            </a:pPr>
            <a:r>
              <a:t>C-Share best at N=10 (3.4x) where</a:t>
            </a:r>
          </a:p>
          <a:p>
            <a:pPr lvl="1">
              <a:defRPr sz="1000"/>
            </a:pPr>
            <a:r>
              <a:t>  each query appears twice (real duplicates)</a:t>
            </a:r>
          </a:p>
          <a:p>
            <a:pPr lvl="1">
              <a:defRPr sz="1000"/>
            </a:pPr>
            <a:r>
              <a:t>At N=20, sharing overhead &gt; savings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Per-Query Amortized Cost</a:t>
            </a:r>
          </a:p>
        </p:txBody>
      </p:sp>
      <p:pic>
        <p:nvPicPr>
          <p:cNvPr id="3" name="Picture 2" descr="batch_per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029200" cy="24528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Test: what does each additional query</a:t>
            </a:r>
          </a:p>
          <a:p>
            <a:pPr>
              <a:defRPr sz="1200"/>
            </a:pPr>
            <a:r>
              <a:t>cost in a batch?</a:t>
            </a:r>
          </a:p>
          <a:p>
            <a:pPr lvl="1">
              <a:defRPr sz="1000"/>
            </a:pPr>
            <a:r>
              <a:t>Same setup, but divide total time by N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Result:</a:t>
            </a:r>
          </a:p>
          <a:p>
            <a:pPr lvl="1">
              <a:defRPr sz="1000"/>
            </a:pPr>
            <a:r>
              <a:t>22 ms/query at N=5</a:t>
            </a:r>
          </a:p>
          <a:p>
            <a:pPr lvl="1">
              <a:defRPr sz="1000"/>
            </a:pPr>
            <a:r>
              <a:t>11 ms/query at N=20</a:t>
            </a:r>
          </a:p>
          <a:p>
            <a:pPr lvl="1">
              <a:defRPr sz="1000"/>
            </a:pPr>
            <a:r>
              <a:t>Fixed costs get amortized:</a:t>
            </a:r>
          </a:p>
          <a:p>
            <a:pPr lvl="1">
              <a:defRPr sz="1000"/>
            </a:pPr>
            <a:r>
              <a:t>  plan compilation: once per batch</a:t>
            </a:r>
          </a:p>
          <a:p>
            <a:pPr lvl="1">
              <a:defRPr sz="1000"/>
            </a:pPr>
            <a:r>
              <a:t>  trie construction: once per input</a:t>
            </a:r>
          </a:p>
          <a:p>
            <a:pPr lvl="1">
              <a:defRPr sz="1000"/>
            </a:pPr>
            <a:r>
              <a:t>Adding queries gets cheaper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Contributions</a:t>
            </a:r>
          </a:p>
        </p:txBody>
      </p:sp>
      <p:pic>
        <p:nvPicPr>
          <p:cNvPr id="3" name="Picture 2" descr="con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029200" cy="203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Test: how much does each optimization</a:t>
            </a:r>
          </a:p>
          <a:p>
            <a:pPr>
              <a:defRPr sz="1200"/>
            </a:pPr>
            <a:r>
              <a:t>layer add?</a:t>
            </a:r>
          </a:p>
          <a:p>
            <a:pPr lvl="1">
              <a:defRPr sz="1000"/>
            </a:pPr>
            <a:r>
              <a:t>Each mode builds on the previous one</a:t>
            </a:r>
          </a:p>
          <a:p>
            <a:pPr lvl="1">
              <a:defRPr sz="1000"/>
            </a:pPr>
            <a:r>
              <a:t>Two configurations to show different regimes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Result:</a:t>
            </a:r>
          </a:p>
          <a:p>
            <a:pPr lvl="1">
              <a:defRPr sz="1000"/>
            </a:pPr>
            <a:r>
              <a:t>WCOJ is the big win (3.2x at V=400)</a:t>
            </a:r>
          </a:p>
          <a:p>
            <a:pPr lvl="1">
              <a:defRPr sz="1000"/>
            </a:pPr>
            <a:r>
              <a:t>Combine adds +0.6x from batching</a:t>
            </a:r>
          </a:p>
          <a:p>
            <a:pPr lvl="1">
              <a:defRPr sz="1000"/>
            </a:pPr>
            <a:r>
              <a:t>C-Share adds +0.2x from sharing</a:t>
            </a:r>
          </a:p>
          <a:p>
            <a:pPr lvl="1">
              <a:defRPr sz="1000"/>
            </a:pPr>
            <a:r>
              <a:t>WCOJ does the heavy lifting;</a:t>
            </a:r>
          </a:p>
          <a:p>
            <a:pPr lvl="1">
              <a:defRPr sz="1000"/>
            </a:pPr>
            <a:r>
              <a:t>  Combine/C-Share are incremental gains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TPC-H Cyclic Joins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Standard TPC-H queries are acyclic, but the schema supports cycles</a:t>
            </a:r>
          </a:p>
          <a:p>
            <a:pPr lvl="1">
              <a:defRPr sz="1200"/>
            </a:pPr>
            <a:r>
              <a:t>lineitem self-joins on orderkey/suppkey/partkey</a:t>
            </a:r>
          </a:p>
          <a:p>
            <a:pPr lvl="1">
              <a:defRPr sz="1200"/>
            </a:pPr>
            <a:r>
              <a:t>FK cycles: customer-orders-lineitem-supplier closed by nationkey</a:t>
            </a:r>
          </a:p>
          <a:p>
            <a:pPr>
              <a:defRPr sz="1400"/>
            </a:pPr>
            <a:r>
              <a:t>Self-join triangle (2.9M rows):</a:t>
            </a:r>
          </a:p>
          <a:p>
            <a:pPr lvl="1">
              <a:defRPr sz="1200"/>
            </a:pPr>
            <a:r>
              <a:t>WCOJ: 2267 ms (1.8x over baseline 4023 ms)</a:t>
            </a:r>
          </a:p>
          <a:p>
            <a:pPr lvl="1">
              <a:defRPr sz="1200"/>
            </a:pPr>
            <a:r>
              <a:t>Combine: 2120 ms (1.9x) -- best mode</a:t>
            </a:r>
          </a:p>
          <a:p>
            <a:pPr>
              <a:defRPr sz="1400"/>
            </a:pPr>
            <a:r>
              <a:t>Self-join 4-cycle (6.0M rows):</a:t>
            </a:r>
          </a:p>
          <a:p>
            <a:pPr lvl="1">
              <a:defRPr sz="1200"/>
            </a:pPr>
            <a:r>
              <a:t>WCOJ: 46,529 ms (2.4x over baseline 109,443 ms)</a:t>
            </a:r>
          </a:p>
          <a:p>
            <a:pPr lvl="1">
              <a:defRPr sz="1200"/>
            </a:pPr>
            <a:r>
              <a:t>Binary joins OOM on this query; WCOJ completes in 47s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TPC-H Self-Join Performance</a:t>
            </a:r>
          </a:p>
        </p:txBody>
      </p:sp>
      <p:pic>
        <p:nvPicPr>
          <p:cNvPr id="3" name="Picture 2" descr="tpch_self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029200" cy="203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Test: does WCOJ help on realistic</a:t>
            </a:r>
          </a:p>
          <a:p>
            <a:pPr>
              <a:defRPr sz="1200"/>
            </a:pPr>
            <a:r>
              <a:t>self-join cycles over TPC-H lineitem?</a:t>
            </a:r>
          </a:p>
          <a:p>
            <a:pPr lvl="1">
              <a:defRPr sz="1000"/>
            </a:pPr>
            <a:r>
              <a:t>Same table joined on different columns</a:t>
            </a:r>
          </a:p>
          <a:p>
            <a:pPr lvl="1">
              <a:defRPr sz="1000"/>
            </a:pPr>
            <a:r>
              <a:t>C-Binary added to isolate batching vs WCOJ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Result:</a:t>
            </a:r>
          </a:p>
          <a:p>
            <a:pPr lvl="1">
              <a:defRPr sz="1000"/>
            </a:pPr>
            <a:r>
              <a:t>Triangle: Combine 1.9x, WCOJ 1.8x</a:t>
            </a:r>
          </a:p>
          <a:p>
            <a:pPr lvl="1">
              <a:defRPr sz="1000"/>
            </a:pPr>
            <a:r>
              <a:t>  C-Binary only 1.1x -- batching alone</a:t>
            </a:r>
          </a:p>
          <a:p>
            <a:pPr lvl="1">
              <a:defRPr sz="1000"/>
            </a:pPr>
            <a:r>
              <a:t>  barely helps; WCOJ does the real work</a:t>
            </a:r>
          </a:p>
          <a:p>
            <a:pPr lvl="1">
              <a:defRPr sz="1000"/>
            </a:pPr>
            <a:r>
              <a:t>4-Cycle: WCOJ 2.4x (46.5s vs 109s)</a:t>
            </a:r>
          </a:p>
          <a:p>
            <a:pPr lvl="1">
              <a:defRPr sz="1000"/>
            </a:pPr>
            <a:r>
              <a:t>  Binary joins OOM at 4 GB heap</a:t>
            </a:r>
          </a:p>
          <a:p>
            <a:pPr lvl="1">
              <a:defRPr sz="1000"/>
            </a:pPr>
            <a:r>
              <a:t>  WCOJ enables queries binary can't run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TPC-H: FK Cycles (WCOJ Loses)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FK rectangle (c-o-l-s, 11.7K rows): WCOJ 1.5x slower</a:t>
            </a:r>
          </a:p>
          <a:p>
            <a:pPr lvl="1">
              <a:defRPr sz="1200"/>
            </a:pPr>
            <a:r>
              <a:t>Baseline 902 ms vs WCOJ 1381 ms</a:t>
            </a:r>
          </a:p>
          <a:p>
            <a:pPr>
              <a:defRPr sz="1400"/>
            </a:pPr>
            <a:r>
              <a:t>FK diamond (c-o-l-s-n, 11.7K rows): WCOJ 3.9x slower</a:t>
            </a:r>
          </a:p>
          <a:p>
            <a:pPr lvl="1">
              <a:defRPr sz="1200"/>
            </a:pPr>
            <a:r>
              <a:t>Baseline 2096 ms vs WCOJ 8141 ms</a:t>
            </a:r>
          </a:p>
          <a:p>
            <a:pPr>
              <a:defRPr sz="1400"/>
            </a:pPr>
            <a:r>
              <a:t>Why? Low-cardinality closing predicate (nationkey, 25 values)</a:t>
            </a:r>
          </a:p>
          <a:p>
            <a:pPr lvl="1">
              <a:defRPr sz="1200"/>
            </a:pPr>
            <a:r>
              <a:t>Binary joins prune early via selective FK constraints</a:t>
            </a:r>
          </a:p>
          <a:p>
            <a:pPr lvl="1">
              <a:defRPr sz="1200"/>
            </a:pPr>
            <a:r>
              <a:t>WCOJ pays intersection cost at every level regardless</a:t>
            </a:r>
          </a:p>
          <a:p>
            <a:pPr>
              <a:defRPr sz="1400"/>
            </a:pPr>
            <a:r>
              <a:t>Combine makes it worse on the diamond (15.8s)</a:t>
            </a:r>
          </a:p>
          <a:p>
            <a:pPr lvl="1">
              <a:defRPr sz="1200"/>
            </a:pPr>
            <a:r>
              <a:t>Materialization overhead on top of already-slow WCOJ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TPC-H FK Cycle Performance</a:t>
            </a:r>
          </a:p>
        </p:txBody>
      </p:sp>
      <p:pic>
        <p:nvPicPr>
          <p:cNvPr id="3" name="Picture 2" descr="tpch_f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029200" cy="203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Test: what happens when the cycle</a:t>
            </a:r>
          </a:p>
          <a:p>
            <a:pPr>
              <a:defRPr sz="1200"/>
            </a:pPr>
            <a:r>
              <a:t>crosses different tables via FK?</a:t>
            </a:r>
          </a:p>
          <a:p>
            <a:pPr lvl="1">
              <a:defRPr sz="1000"/>
            </a:pPr>
            <a:r>
              <a:t>customer -&gt; orders -&gt; lineitem -&gt; supplier</a:t>
            </a:r>
          </a:p>
          <a:p>
            <a:pPr lvl="1">
              <a:defRPr sz="1000"/>
            </a:pPr>
            <a:r>
              <a:t>Closed by nationkey (only 25 values)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Result: WCOJ loses</a:t>
            </a:r>
          </a:p>
          <a:p>
            <a:pPr lvl="1">
              <a:defRPr sz="1000"/>
            </a:pPr>
            <a:r>
              <a:t>Rectangle: 1.5x slower (1381 vs 902 ms)</a:t>
            </a:r>
          </a:p>
          <a:p>
            <a:pPr lvl="1">
              <a:defRPr sz="1000"/>
            </a:pPr>
            <a:r>
              <a:t>Diamond: 3.9x slower (8.1s vs 2.1s)</a:t>
            </a:r>
          </a:p>
          <a:p>
            <a:pPr lvl="1">
              <a:defRPr sz="1000"/>
            </a:pPr>
            <a:r>
              <a:t>Combine makes it even worse (15.8s)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Why?</a:t>
            </a:r>
          </a:p>
          <a:p>
            <a:pPr lvl="1">
              <a:defRPr sz="1000"/>
            </a:pPr>
            <a:r>
              <a:t>Binary joins prune early on selective FK</a:t>
            </a:r>
          </a:p>
          <a:p>
            <a:pPr lvl="1">
              <a:defRPr sz="1000"/>
            </a:pPr>
            <a:r>
              <a:t>WCOJ pays intersection cost at every level</a:t>
            </a:r>
          </a:p>
          <a:p>
            <a:pPr lvl="1">
              <a:defRPr sz="1000"/>
            </a:pPr>
            <a:r>
              <a:t>Longer cycle = more wasted intersection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 to Calcite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Multi-query infrastructure (in Calcite today):</a:t>
            </a:r>
          </a:p>
          <a:p>
            <a:pPr lvl="1">
              <a:defRPr sz="1200"/>
            </a:pPr>
            <a:r>
              <a:t>Combine operator: holds N sub-queries as one plan</a:t>
            </a:r>
          </a:p>
          <a:p>
            <a:pPr lvl="1">
              <a:defRPr sz="1200"/>
            </a:pPr>
            <a:r>
              <a:t>MULTI() SQL syntax: declares a batch for joint optimization</a:t>
            </a:r>
          </a:p>
          <a:p>
            <a:pPr lvl="1">
              <a:defRPr sz="1200"/>
            </a:pPr>
            <a:r>
              <a:t>Sub-expression spooling: materializes shared sub-plans once</a:t>
            </a:r>
          </a:p>
          <a:p>
            <a:pPr>
              <a:defRPr sz="1400"/>
            </a:pPr>
            <a:r>
              <a:t>Single-query WCOJ algorithm:</a:t>
            </a:r>
          </a:p>
          <a:p>
            <a:pPr lvl="1">
              <a:defRPr sz="1200"/>
            </a:pPr>
            <a:r>
              <a:t>Hash-based worst-case optimal join operator</a:t>
            </a:r>
          </a:p>
          <a:p>
            <a:pPr lvl="1">
              <a:defRPr sz="1200"/>
            </a:pPr>
            <a:r>
              <a:t>GYO cyclicity detection -- only fires on genuine cycles</a:t>
            </a:r>
          </a:p>
          <a:p>
            <a:pPr lvl="1">
              <a:defRPr sz="1200"/>
            </a:pPr>
            <a:r>
              <a:t>Integrated into Volcano optimizer via planner rules</a:t>
            </a:r>
          </a:p>
          <a:p>
            <a:pPr>
              <a:defRPr sz="1400"/>
            </a:pPr>
            <a:r>
              <a:t>All modular, opt-in, backward compatible</a:t>
            </a:r>
          </a:p>
          <a:p>
            <a:pPr lvl="1">
              <a:defRPr sz="1200"/>
            </a:pPr>
            <a:r>
              <a:t>Existing queries are unaffected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 &amp; Open Problems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Cyclic != use WCOJ</a:t>
            </a:r>
          </a:p>
          <a:p>
            <a:pPr lvl="1">
              <a:defRPr sz="1200"/>
            </a:pPr>
            <a:r>
              <a:t>Need a way to identify cycles where binary joins still win</a:t>
            </a:r>
          </a:p>
          <a:p>
            <a:pPr lvl="1">
              <a:defRPr sz="1200"/>
            </a:pPr>
            <a:r>
              <a:t>Selective closing predicates (e.g., nationkey) let binary joins prune early</a:t>
            </a:r>
          </a:p>
          <a:p>
            <a:pPr lvl="1">
              <a:defRPr sz="1200"/>
            </a:pPr>
            <a:r>
              <a:t>Freitag et al. saw the same in Umbra -- cost-based routing is the real answer</a:t>
            </a:r>
          </a:p>
          <a:p>
            <a:pPr>
              <a:defRPr sz="1400"/>
            </a:pPr>
            <a:r>
              <a:t>Calcite's execution engine is the wrong place to benchmark</a:t>
            </a:r>
          </a:p>
          <a:p>
            <a:pPr lvl="1">
              <a:defRPr sz="1200"/>
            </a:pPr>
            <a:r>
              <a:t>Most systems use Calcite for planning, not execution</a:t>
            </a:r>
          </a:p>
          <a:p>
            <a:pPr lvl="1">
              <a:defRPr sz="1200"/>
            </a:pPr>
            <a:r>
              <a:t>Better case: export plans to Flink, Trino, or another engine</a:t>
            </a:r>
          </a:p>
          <a:p>
            <a:pPr lvl="1">
              <a:defRPr sz="1200"/>
            </a:pPr>
            <a:r>
              <a:t>Could also work for streaming queries or materializing frequently-used structures</a:t>
            </a:r>
          </a:p>
          <a:p>
            <a:pPr>
              <a:defRPr sz="1400"/>
            </a:pPr>
            <a:r>
              <a:t>MULTI() requires knowing the workload ahead of time</a:t>
            </a:r>
          </a:p>
          <a:p>
            <a:pPr lvl="1">
              <a:defRPr sz="1200"/>
            </a:pPr>
            <a:r>
              <a:t>You have to declare the batch up front</a:t>
            </a:r>
          </a:p>
          <a:p>
            <a:pPr lvl="1">
              <a:defRPr sz="1200"/>
            </a:pPr>
            <a:r>
              <a:t>This is still the candidate selection problem -- NP-hard in general</a:t>
            </a:r>
          </a:p>
          <a:p>
            <a:pPr lvl="1">
              <a:defRPr sz="1200"/>
            </a:pPr>
            <a:r>
              <a:t>A real system would need workload analysis or online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