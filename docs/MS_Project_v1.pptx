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37"/>
    <p:sldId id="272" r:id="rId38"/>
    <p:sldId id="273" r:id="rId39"/>
    <p:sldId id="274" r:id="rId40"/>
    <p:sldId id="275" r:id="rId41"/>
    <p:sldId id="276" r:id="rId42"/>
  </p:sldIdLst>
  <p:sldSz cy="5143500" cx="9144000"/>
  <p:notesSz cx="6858000" cy="9144000"/>
  <p:embeddedFontLst>
    <p:embeddedFont>
      <p:font typeface="Raleway"/>
      <p:regular r:id="rId11"/>
      <p:bold r:id="rId12"/>
      <p:italic r:id="rId13"/>
      <p:boldItalic r:id="rId14"/>
    </p:embeddedFont>
    <p:embeddedFont>
      <p:font typeface="Roboto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  <p:embeddedFont>
      <p:font typeface="Google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font" Target="fonts/Raleway-regular.fntdata"/><Relationship Id="rId12" Type="http://schemas.openxmlformats.org/officeDocument/2006/relationships/font" Target="fonts/Raleway-bold.fntdata"/><Relationship Id="rId13" Type="http://schemas.openxmlformats.org/officeDocument/2006/relationships/font" Target="fonts/Raleway-italic.fntdata"/><Relationship Id="rId14" Type="http://schemas.openxmlformats.org/officeDocument/2006/relationships/font" Target="fonts/Raleway-boldItalic.fntdata"/><Relationship Id="rId15" Type="http://schemas.openxmlformats.org/officeDocument/2006/relationships/font" Target="fonts/Roboto-regular.fntdata"/><Relationship Id="rId16" Type="http://schemas.openxmlformats.org/officeDocument/2006/relationships/font" Target="fonts/Roboto-bold.fntdata"/><Relationship Id="rId17" Type="http://schemas.openxmlformats.org/officeDocument/2006/relationships/font" Target="fonts/Roboto-italic.fntdata"/><Relationship Id="rId18" Type="http://schemas.openxmlformats.org/officeDocument/2006/relationships/font" Target="fonts/Roboto-boldItalic.fntdata"/><Relationship Id="rId19" Type="http://schemas.openxmlformats.org/officeDocument/2006/relationships/font" Target="fonts/Lato-regular.fntdata"/><Relationship Id="rId20" Type="http://schemas.openxmlformats.org/officeDocument/2006/relationships/font" Target="fonts/Lato-bold.fntdata"/><Relationship Id="rId21" Type="http://schemas.openxmlformats.org/officeDocument/2006/relationships/font" Target="fonts/Lato-italic.fntdata"/><Relationship Id="rId22" Type="http://schemas.openxmlformats.org/officeDocument/2006/relationships/font" Target="fonts/Lato-boldItalic.fntdata"/><Relationship Id="rId23" Type="http://schemas.openxmlformats.org/officeDocument/2006/relationships/font" Target="fonts/GoogleSans-regular.fntdata"/><Relationship Id="rId24" Type="http://schemas.openxmlformats.org/officeDocument/2006/relationships/font" Target="fonts/GoogleSans-bold.fntdata"/><Relationship Id="rId25" Type="http://schemas.openxmlformats.org/officeDocument/2006/relationships/font" Target="fonts/GoogleSans-italic.fntdata"/><Relationship Id="rId26" Type="http://schemas.openxmlformats.org/officeDocument/2006/relationships/font" Target="fonts/GoogleSans-boldItalic.fntdata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35" Type="http://schemas.openxmlformats.org/officeDocument/2006/relationships/slide" Target="slides/slide14.xml"/><Relationship Id="rId36" Type="http://schemas.openxmlformats.org/officeDocument/2006/relationships/slide" Target="slides/slide15.xml"/><Relationship Id="rId37" Type="http://schemas.openxmlformats.org/officeDocument/2006/relationships/slide" Target="slides/slide16.xml"/><Relationship Id="rId38" Type="http://schemas.openxmlformats.org/officeDocument/2006/relationships/slide" Target="slides/slide17.xml"/><Relationship Id="rId39" Type="http://schemas.openxmlformats.org/officeDocument/2006/relationships/slide" Target="slides/slide18.xml"/><Relationship Id="rId40" Type="http://schemas.openxmlformats.org/officeDocument/2006/relationships/slide" Target="slides/slide19.xml"/><Relationship Id="rId41" Type="http://schemas.openxmlformats.org/officeDocument/2006/relationships/slide" Target="slides/slide20.xml"/><Relationship Id="rId42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634e98831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634e98831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Simple motivation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 was </a:t>
            </a:r>
            <a:r>
              <a:rPr lang="en"/>
              <a:t>familiar</a:t>
            </a:r>
            <a:r>
              <a:rPr lang="en"/>
              <a:t> with an open-source project called Calcite and wanted to do something to contribute to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At the same time, it is a general purpose adapter and didn’t touch on any of the underlying storage systems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So, had to find </a:t>
            </a:r>
            <a:r>
              <a:rPr lang="en"/>
              <a:t>something where Calcite was used in -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Saw that Flink’s SQL api is all calcite based and decided to look at that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Some limitations of Calcite require the flink community to make a lot of changes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All that said, main motivation and goal is to improve the Flink SQL optimizer in some small way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Flink has a higher level DAG that makes optimization difficult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Calcite can’t optimize a full graph - but really subtrees of that graph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With a lofty goal of bringing full optimization to Flink streaming plan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And hopefully bring this back to Calcite.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c55010b719_0_4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c55010b719_0_4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Calcite is SQL engine with no storage system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Relies on adapters for access to storage </a:t>
            </a:r>
            <a:r>
              <a:rPr lang="en"/>
              <a:t>systems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Can perform query federation between multipl storage systems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In memory execution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JVM with only a few common external dependencies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c55010b71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c55010b71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Image: https://nightlies.apache.org/flink/flink-docs-master/docs/concepts/flink-architecture/</a:t>
            </a:r>
            <a:endParaRPr sz="1300">
              <a:solidFill>
                <a:srgbClr val="1212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21212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Originates from the Stratosphere research project at TU Berlin</a:t>
            </a:r>
            <a:endParaRPr sz="1300">
              <a:solidFill>
                <a:srgbClr val="1212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21212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Flink treats all data as streams, enabling seamless analysis of both real-time and historical data using the same APIs and programming model.</a:t>
            </a:r>
            <a:endParaRPr sz="1300">
              <a:solidFill>
                <a:srgbClr val="1212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21212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Offers robust fault-tolerant state management, ensuring accurate results even in the face of failures.</a:t>
            </a:r>
            <a:endParaRPr sz="1300">
              <a:solidFill>
                <a:srgbClr val="1212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21212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Guarantees that each event is processed exactly once across the entire pipeline, avoiding duplicates or missed data.</a:t>
            </a:r>
            <a:endParaRPr sz="1300">
              <a:solidFill>
                <a:srgbClr val="1212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21212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Proven to scale to massive datasets and provides low-latency processing capabilities for real-time applications.</a:t>
            </a:r>
            <a:endParaRPr sz="1300">
              <a:solidFill>
                <a:srgbClr val="1212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Quick note on architecture:</a:t>
            </a:r>
            <a:br>
              <a:rPr lang="en" sz="130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30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	Several client types (SQL client is just one of them)</a:t>
            </a:r>
            <a:endParaRPr sz="1300">
              <a:solidFill>
                <a:srgbClr val="1212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Key Components:</a:t>
            </a:r>
            <a:endParaRPr sz="1300">
              <a:solidFill>
                <a:srgbClr val="1212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JobManager: Coordinates distributed execution.</a:t>
            </a:r>
            <a:endParaRPr sz="1300">
              <a:solidFill>
                <a:srgbClr val="1212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ResourceManager: Manages resources (task slots) within the cluster</a:t>
            </a:r>
            <a:endParaRPr sz="1300">
              <a:solidFill>
                <a:srgbClr val="1212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Dispatcher: Accepts jobs, provides REST interface, runs WebUI</a:t>
            </a:r>
            <a:endParaRPr sz="1300">
              <a:solidFill>
                <a:srgbClr val="1212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JobMaster: Manages execution of a specific job</a:t>
            </a:r>
            <a:endParaRPr sz="1300">
              <a:solidFill>
                <a:srgbClr val="1212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TaskManager: Executes tasks, buffers data, and manages task slots (units of resource allocation).</a:t>
            </a:r>
            <a:endParaRPr sz="1300">
              <a:solidFill>
                <a:srgbClr val="1212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212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21212"/>
              </a:buClr>
              <a:buSzPts val="1300"/>
              <a:buFont typeface="Roboto"/>
              <a:buChar char="-"/>
            </a:pPr>
            <a:r>
              <a:rPr lang="en" sz="1300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rPr>
              <a:t>Red arrow points to the component of Flink we are interested in</a:t>
            </a:r>
            <a:endParaRPr sz="1300">
              <a:solidFill>
                <a:srgbClr val="12121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300">
              <a:solidFill>
                <a:srgbClr val="12121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c55010b719_0_47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c55010b719_0_4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CSC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03C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F2981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4"/>
          <p:cNvGrpSpPr/>
          <p:nvPr/>
        </p:nvGrpSpPr>
        <p:grpSpPr>
          <a:xfrm>
            <a:off x="729442" y="120006"/>
            <a:ext cx="745763" cy="45826"/>
            <a:chOff x="4580561" y="2589004"/>
            <a:chExt cx="1064464" cy="25200"/>
          </a:xfrm>
        </p:grpSpPr>
        <p:sp>
          <p:nvSpPr>
            <p:cNvPr id="25" name="Google Shape;25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03C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F2981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" name="Google Shape;27;p4"/>
          <p:cNvSpPr txBox="1"/>
          <p:nvPr>
            <p:ph type="title"/>
          </p:nvPr>
        </p:nvSpPr>
        <p:spPr>
          <a:xfrm>
            <a:off x="727650" y="231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727650" y="8326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5"/>
          <p:cNvGrpSpPr/>
          <p:nvPr/>
        </p:nvGrpSpPr>
        <p:grpSpPr>
          <a:xfrm>
            <a:off x="729442" y="261806"/>
            <a:ext cx="745763" cy="45826"/>
            <a:chOff x="4580561" y="2589004"/>
            <a:chExt cx="1064464" cy="25200"/>
          </a:xfrm>
        </p:grpSpPr>
        <p:sp>
          <p:nvSpPr>
            <p:cNvPr id="32" name="Google Shape;32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03C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F2981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5"/>
          <p:cNvSpPr txBox="1"/>
          <p:nvPr>
            <p:ph type="title"/>
          </p:nvPr>
        </p:nvSpPr>
        <p:spPr>
          <a:xfrm>
            <a:off x="727800" y="420725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727713" y="10312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41991" y="10312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" name="Google Shape;40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" name="Google Shape;43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" name="Google Shape;47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8" name="Google Shape;48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03C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F2981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" name="Google Shape;50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1" name="Google Shape;51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5" name="Google Shape;55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" name="Google Shape;61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2" name="Google Shape;62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" name="Google Shape;64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5" name="Google Shape;65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6" name="Google Shape;66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3" name="Google Shape;73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_Content">
  <p:cSld name="CUSTOM_2_3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idx="1" type="body"/>
          </p:nvPr>
        </p:nvSpPr>
        <p:spPr>
          <a:xfrm>
            <a:off x="457175" y="1536250"/>
            <a:ext cx="4077000" cy="31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type="title"/>
          </p:nvPr>
        </p:nvSpPr>
        <p:spPr>
          <a:xfrm>
            <a:off x="457175" y="460250"/>
            <a:ext cx="40770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83" name="Google Shape;83;p13"/>
          <p:cNvSpPr/>
          <p:nvPr/>
        </p:nvSpPr>
        <p:spPr>
          <a:xfrm>
            <a:off x="8027650" y="4857963"/>
            <a:ext cx="659356" cy="115363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13"/>
          <p:cNvSpPr txBox="1"/>
          <p:nvPr/>
        </p:nvSpPr>
        <p:spPr>
          <a:xfrm>
            <a:off x="6762575" y="-301"/>
            <a:ext cx="19242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BDC1C6"/>
                </a:solidFill>
                <a:latin typeface="Google Sans"/>
                <a:ea typeface="Google Sans"/>
                <a:cs typeface="Google Sans"/>
                <a:sym typeface="Google Sans"/>
              </a:rPr>
              <a:t>Proprietary + Confidential</a:t>
            </a:r>
            <a:endParaRPr sz="600">
              <a:solidFill>
                <a:srgbClr val="BDC1C6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"/>
              <a:buNone/>
              <a:defRPr b="1" sz="2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Roboto"/>
              <a:buChar char="●"/>
              <a:defRPr sz="13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Char char="○"/>
              <a:defRPr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Char char="■"/>
              <a:defRPr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Char char="●"/>
              <a:defRPr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Char char="○"/>
              <a:defRPr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Char char="■"/>
              <a:defRPr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Char char="●"/>
              <a:defRPr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Char char="○"/>
              <a:defRPr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oboto"/>
              <a:buChar char="■"/>
              <a:defRPr sz="110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ctrTitle"/>
          </p:nvPr>
        </p:nvSpPr>
        <p:spPr>
          <a:xfrm>
            <a:off x="729450" y="1248275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Cross-Query Optimization for WCOJ</a:t>
            </a:r>
            <a:endParaRPr/>
          </a:p>
        </p:txBody>
      </p:sp>
      <p:sp>
        <p:nvSpPr>
          <p:cNvPr id="90" name="Google Shape;90;p14"/>
          <p:cNvSpPr txBox="1"/>
          <p:nvPr>
            <p:ph idx="1" type="subTitle"/>
          </p:nvPr>
        </p:nvSpPr>
        <p:spPr>
          <a:xfrm>
            <a:off x="729450" y="2778125"/>
            <a:ext cx="7688100" cy="6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460"/>
              <a:t>CSE 214: Principles of Database Systems</a:t>
            </a:r>
            <a:endParaRPr sz="146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460"/>
              <a:t>Thomas Banghart</a:t>
            </a:r>
            <a:endParaRPr sz="146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560"/>
          </a:p>
        </p:txBody>
      </p:sp>
      <p:pic>
        <p:nvPicPr>
          <p:cNvPr id="91" name="Google Shape;9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950" y="4109975"/>
            <a:ext cx="3444975" cy="92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727650" y="5237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	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727650" y="576325"/>
            <a:ext cx="7688700" cy="45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pPr>
            <a:r>
              <a:t>Binary join engines process joins in pairs</a:t>
            </a:r>
            <a:endParaRPr>
              <a:solidFill>
                <a:srgbClr val="121212"/>
              </a:solidFill>
            </a:endParaRPr>
          </a:p>
          <a:p>
            <a:pPr lvl="1">
              <a:defRPr sz="1400"/>
            </a:pPr>
            <a:r>
              <a:t>No join ordering avoids intermediate blowup for cyclic queries</a:t>
            </a:r>
          </a:p>
          <a:p>
            <a:pPr lvl="1">
              <a:defRPr sz="1400"/>
            </a:pPr>
            <a:r>
              <a:t>Triangle: R(a,b) JOIN S(b,c) JOIN T(c,a) can produce O(|E|^2) intermediates</a:t>
            </a:r>
          </a:p>
          <a:p>
            <a:pPr>
              <a:defRPr sz="1600"/>
            </a:pPr>
            <a:r>
              <a:t>WCOJ algorithms solve this for single queries</a:t>
            </a:r>
          </a:p>
          <a:p>
            <a:pPr lvl="1">
              <a:defRPr sz="1400"/>
            </a:pPr>
            <a:r>
              <a:t>Process one variable at a time, intersect across all relations</a:t>
            </a:r>
          </a:p>
          <a:p>
            <a:pPr lvl="1">
              <a:defRPr sz="1400"/>
            </a:pPr>
            <a:r>
              <a:t>Runtime bounded by AGM bound, not intermediate sizes</a:t>
            </a:r>
          </a:p>
          <a:p>
            <a:pPr>
              <a:defRPr sz="1600"/>
            </a:pPr>
            <a:r>
              <a:t>But batches of similar queries still redundantly build identical data structures</a:t>
            </a:r>
          </a:p>
          <a:p>
            <a:pPr>
              <a:defRPr sz="1600"/>
            </a:pPr>
            <a:r>
              <a:t>No prior work combines WCOJ with multi-query optimization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idx="1" type="body"/>
          </p:nvPr>
        </p:nvSpPr>
        <p:spPr>
          <a:xfrm>
            <a:off x="220300" y="986250"/>
            <a:ext cx="5199900" cy="7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oboto"/>
              <a:buChar char="●"/>
            </a:pPr>
            <a:r>
              <a:rPr lang="en">
                <a:solidFill>
                  <a:srgbClr val="000000"/>
                </a:solidFill>
              </a:rPr>
              <a:t>“</a:t>
            </a:r>
            <a:r>
              <a:rPr lang="en">
                <a:solidFill>
                  <a:srgbClr val="000000"/>
                </a:solidFill>
              </a:rPr>
              <a:t>Everything a database does except storage”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5112575" y="1708650"/>
            <a:ext cx="1065000" cy="3933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SQL</a:t>
            </a:r>
            <a:endParaRPr sz="1100"/>
          </a:p>
        </p:txBody>
      </p:sp>
      <p:sp>
        <p:nvSpPr>
          <p:cNvPr id="104" name="Google Shape;104;p16"/>
          <p:cNvSpPr/>
          <p:nvPr/>
        </p:nvSpPr>
        <p:spPr>
          <a:xfrm>
            <a:off x="5112425" y="2264325"/>
            <a:ext cx="1065000" cy="393300"/>
          </a:xfrm>
          <a:prstGeom prst="roundRect">
            <a:avLst>
              <a:gd fmla="val 16667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SQL parser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8055675" y="3382075"/>
            <a:ext cx="1065000" cy="3933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Pluggable rewrite rules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8055675" y="3944150"/>
            <a:ext cx="1065000" cy="3933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Pluggable stats / cost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7360000" y="2820000"/>
            <a:ext cx="1760700" cy="3933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Pluggable catalog, conformance, operators</a:t>
            </a:r>
            <a:endParaRPr sz="1100">
              <a:solidFill>
                <a:srgbClr val="FFFFFF"/>
              </a:solidFill>
            </a:endParaRPr>
          </a:p>
        </p:txBody>
      </p:sp>
      <p:cxnSp>
        <p:nvCxnSpPr>
          <p:cNvPr id="108" name="Google Shape;108;p16"/>
          <p:cNvCxnSpPr/>
          <p:nvPr/>
        </p:nvCxnSpPr>
        <p:spPr>
          <a:xfrm>
            <a:off x="5645075" y="2651100"/>
            <a:ext cx="0" cy="168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16"/>
          <p:cNvCxnSpPr/>
          <p:nvPr/>
        </p:nvCxnSpPr>
        <p:spPr>
          <a:xfrm>
            <a:off x="5645075" y="3213175"/>
            <a:ext cx="0" cy="168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" name="Google Shape;110;p16"/>
          <p:cNvCxnSpPr/>
          <p:nvPr/>
        </p:nvCxnSpPr>
        <p:spPr>
          <a:xfrm>
            <a:off x="5645075" y="3775375"/>
            <a:ext cx="0" cy="160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" name="Google Shape;111;p16"/>
          <p:cNvCxnSpPr>
            <a:stCxn id="107" idx="1"/>
            <a:endCxn id="112" idx="3"/>
          </p:cNvCxnSpPr>
          <p:nvPr/>
        </p:nvCxnSpPr>
        <p:spPr>
          <a:xfrm rot="10800000">
            <a:off x="6177700" y="3016650"/>
            <a:ext cx="11823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16"/>
          <p:cNvCxnSpPr/>
          <p:nvPr/>
        </p:nvCxnSpPr>
        <p:spPr>
          <a:xfrm rot="10800000">
            <a:off x="6177625" y="3578725"/>
            <a:ext cx="406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4" name="Google Shape;114;p16"/>
          <p:cNvCxnSpPr>
            <a:stCxn id="105" idx="1"/>
          </p:cNvCxnSpPr>
          <p:nvPr/>
        </p:nvCxnSpPr>
        <p:spPr>
          <a:xfrm rot="10800000">
            <a:off x="7649175" y="3578725"/>
            <a:ext cx="406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" name="Google Shape;115;p16"/>
          <p:cNvCxnSpPr>
            <a:stCxn id="106" idx="1"/>
            <a:endCxn id="116" idx="3"/>
          </p:cNvCxnSpPr>
          <p:nvPr/>
        </p:nvCxnSpPr>
        <p:spPr>
          <a:xfrm rot="10800000">
            <a:off x="7649175" y="3578600"/>
            <a:ext cx="406500" cy="562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" name="Google Shape;117;p16"/>
          <p:cNvSpPr/>
          <p:nvPr/>
        </p:nvSpPr>
        <p:spPr>
          <a:xfrm>
            <a:off x="5112575" y="3935700"/>
            <a:ext cx="1065000" cy="12078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Adapter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5195825" y="4268950"/>
            <a:ext cx="898500" cy="393300"/>
          </a:xfrm>
          <a:prstGeom prst="roundRect">
            <a:avLst>
              <a:gd fmla="val 16667" name="adj"/>
            </a:avLst>
          </a:prstGeom>
          <a:solidFill>
            <a:srgbClr val="274E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Physical operators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5271425" y="4730750"/>
            <a:ext cx="747300" cy="320100"/>
          </a:xfrm>
          <a:prstGeom prst="can">
            <a:avLst>
              <a:gd fmla="val 25000" name="adj"/>
            </a:avLst>
          </a:prstGeom>
          <a:solidFill>
            <a:srgbClr val="274E1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Storage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5112575" y="2820000"/>
            <a:ext cx="1065000" cy="393300"/>
          </a:xfrm>
          <a:prstGeom prst="roundRect">
            <a:avLst>
              <a:gd fmla="val 16667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SQL validator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6584125" y="3382075"/>
            <a:ext cx="1065000" cy="393300"/>
          </a:xfrm>
          <a:prstGeom prst="roundRect">
            <a:avLst>
              <a:gd fmla="val 16667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Query planner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5112425" y="3375675"/>
            <a:ext cx="1065000" cy="3933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Relational algebra</a:t>
            </a:r>
            <a:endParaRPr sz="1000"/>
          </a:p>
        </p:txBody>
      </p:sp>
      <p:cxnSp>
        <p:nvCxnSpPr>
          <p:cNvPr id="121" name="Google Shape;121;p16"/>
          <p:cNvCxnSpPr>
            <a:stCxn id="103" idx="4"/>
            <a:endCxn id="104" idx="0"/>
          </p:cNvCxnSpPr>
          <p:nvPr/>
        </p:nvCxnSpPr>
        <p:spPr>
          <a:xfrm>
            <a:off x="5645075" y="2101950"/>
            <a:ext cx="0" cy="162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" name="Google Shape;122;p16"/>
          <p:cNvSpPr/>
          <p:nvPr/>
        </p:nvSpPr>
        <p:spPr>
          <a:xfrm>
            <a:off x="7649125" y="2257925"/>
            <a:ext cx="1471500" cy="3933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Pluggable parser, lexical rules</a:t>
            </a:r>
            <a:endParaRPr sz="1100">
              <a:solidFill>
                <a:srgbClr val="FFFFFF"/>
              </a:solidFill>
            </a:endParaRPr>
          </a:p>
        </p:txBody>
      </p:sp>
      <p:cxnSp>
        <p:nvCxnSpPr>
          <p:cNvPr id="123" name="Google Shape;123;p16"/>
          <p:cNvCxnSpPr>
            <a:stCxn id="122" idx="1"/>
            <a:endCxn id="104" idx="3"/>
          </p:cNvCxnSpPr>
          <p:nvPr/>
        </p:nvCxnSpPr>
        <p:spPr>
          <a:xfrm flipH="1">
            <a:off x="6177325" y="2454575"/>
            <a:ext cx="1471800" cy="6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" name="Google Shape;124;p16"/>
          <p:cNvSpPr txBox="1"/>
          <p:nvPr/>
        </p:nvSpPr>
        <p:spPr>
          <a:xfrm>
            <a:off x="5339800" y="1135800"/>
            <a:ext cx="36474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(Query plan + SQL Generation)</a:t>
            </a: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4025" y="248800"/>
            <a:ext cx="2950200" cy="69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300" y="1501525"/>
            <a:ext cx="4525200" cy="349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/>
          <p:nvPr>
            <p:ph type="title"/>
          </p:nvPr>
        </p:nvSpPr>
        <p:spPr>
          <a:xfrm>
            <a:off x="3722100" y="2036550"/>
            <a:ext cx="16998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Cyclic Joins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Triangle query: find all (a,b,c) where edges a-&gt;b, b-&gt;c, c-&gt;a exist</a:t>
            </a:r>
          </a:p>
          <a:p>
            <a:pPr lvl="1">
              <a:defRPr sz="1200"/>
            </a:pPr>
            <a:r>
              <a:t>Binary join: R JOIN S on b produces all 2-hop paths O(|E|^2)</a:t>
            </a:r>
          </a:p>
          <a:p>
            <a:pPr lvl="1">
              <a:defRPr sz="1200"/>
            </a:pPr>
            <a:r>
              <a:t>Then filter with T -- final output may be orders of magnitude smaller</a:t>
            </a:r>
          </a:p>
          <a:p>
            <a:pPr>
              <a:defRPr sz="1400"/>
            </a:pPr>
            <a:r>
              <a:t>WCOJ: process variables one at a time</a:t>
            </a:r>
          </a:p>
          <a:p>
            <a:pPr lvl="1">
              <a:defRPr sz="1200"/>
            </a:pPr>
            <a:r>
              <a:t>At each level, intersect candidates across ALL participating relations</a:t>
            </a:r>
          </a:p>
          <a:p>
            <a:pPr lvl="1">
              <a:defRPr sz="1200"/>
            </a:pPr>
            <a:r>
              <a:t>Backtrack when a binding has no valid continuations</a:t>
            </a:r>
          </a:p>
          <a:p>
            <a:pPr lvl="1">
              <a:defRPr sz="1200"/>
            </a:pPr>
            <a:r>
              <a:t>Runtime bounded by AGM bound -- worst-case optimal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WCOJ in Calcite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300"/>
            </a:pPr>
            <a:r>
              <a:t>Automatic cyclic detection</a:t>
            </a:r>
          </a:p>
          <a:p>
            <a:pPr lvl="1">
              <a:defRPr sz="1100"/>
            </a:pPr>
            <a:r>
              <a:t>GYO reduction on join hypergraph</a:t>
            </a:r>
          </a:p>
          <a:p>
            <a:pPr lvl="1">
              <a:defRPr sz="1100"/>
            </a:pPr>
            <a:r>
              <a:t>Only fires for alpha-cyclic queries</a:t>
            </a:r>
          </a:p>
          <a:p>
            <a:pPr>
              <a:defRPr sz="1300"/>
            </a:pPr>
            <a:r>
              <a:t>Hash-based multi-level tries</a:t>
            </a:r>
          </a:p>
          <a:p>
            <a:pPr lvl="1">
              <a:defRPr sz="1100"/>
            </a:pPr>
            <a:r>
              <a:t>Built at query time, no pre-sorting</a:t>
            </a:r>
          </a:p>
          <a:p>
            <a:pPr lvl="1">
              <a:defRPr sz="1100"/>
            </a:pPr>
            <a:r>
              <a:t>O(|R| * d) build, O(d) probe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>
              <a:defRPr sz="1300"/>
            </a:pPr>
            <a:r>
              <a:t>Integrated into Volcano optimizer</a:t>
            </a:r>
          </a:p>
          <a:p>
            <a:pPr lvl="1">
              <a:defRPr sz="1100"/>
            </a:pPr>
            <a:r>
              <a:t>EnumerableWCOJRule: MultiJoin -&gt; EnumerableWCOJ</a:t>
            </a:r>
          </a:p>
          <a:p>
            <a:pPr lvl="1">
              <a:defRPr sz="1100"/>
            </a:pPr>
            <a:r>
              <a:t>JoinToMultiJoinRule flattens binary tree first</a:t>
            </a:r>
          </a:p>
          <a:p>
            <a:pPr>
              <a:defRPr sz="1300"/>
            </a:pPr>
            <a:r>
              <a:t>Backtracking enumerator</a:t>
            </a:r>
          </a:p>
          <a:p>
            <a:pPr lvl="1">
              <a:defRPr sz="1100"/>
            </a:pPr>
            <a:r>
              <a:t>One variable per level</a:t>
            </a:r>
          </a:p>
          <a:p>
            <a:pPr lvl="1">
              <a:defRPr sz="1100"/>
            </a:pPr>
            <a:r>
              <a:t>Cross-product of matching rows at leaves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Combine Operator &amp; MULTI() Syntax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MULTI() SQL extension declares a batch of queries</a:t>
            </a:r>
          </a:p>
          <a:p>
            <a:pPr lvl="1">
              <a:defRPr sz="1200"/>
            </a:pPr>
            <a:r>
              <a:t>Parser produces SqlCall with SqlKind.MULTI</a:t>
            </a:r>
          </a:p>
          <a:p>
            <a:pPr lvl="1">
              <a:defRPr sz="1200"/>
            </a:pPr>
            <a:r>
              <a:t>Each sub-query independently converted, wrapped in Combine node</a:t>
            </a:r>
          </a:p>
          <a:p>
            <a:pPr>
              <a:defRPr sz="1400"/>
            </a:pPr>
            <a:r>
              <a:t>Combine: new relational operator holding N sub-queries</a:t>
            </a:r>
          </a:p>
          <a:p>
            <a:pPr lvl="1">
              <a:defRPr sz="1200"/>
            </a:pPr>
            <a:r>
              <a:t>Single output row = struct of per-query result lists</a:t>
            </a:r>
          </a:p>
          <a:p>
            <a:pPr lvl="1">
              <a:defRPr sz="1200"/>
            </a:pPr>
            <a:r>
              <a:t>Optimizer sees all queries simultaneously</a:t>
            </a:r>
          </a:p>
          <a:p>
            <a:pPr>
              <a:defRPr sz="1400"/>
            </a:pPr>
            <a:r>
              <a:t>EnumerableCombine creates shared TrieCache</a:t>
            </a:r>
          </a:p>
          <a:p>
            <a:pPr lvl="1">
              <a:defRPr sz="1200"/>
            </a:pPr>
            <a:r>
              <a:t>Bridge for cross-query trie sharing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Cross-Query Optimizations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1. Trie Caching -- share hash trie data structures</a:t>
            </a:r>
          </a:p>
          <a:p>
            <a:pPr lvl="1">
              <a:defRPr sz="1200"/>
            </a:pPr>
            <a:r>
              <a:t>Identity-based cache: same input object = same trie</a:t>
            </a:r>
          </a:p>
          <a:p>
            <a:pPr lvl="1">
              <a:defRPr sz="1200"/>
            </a:pPr>
            <a:r>
              <a:t>Intra-operator (self-joins): always active</a:t>
            </a:r>
          </a:p>
          <a:p>
            <a:pPr lvl="1">
              <a:defRPr sz="1200"/>
            </a:pPr>
            <a:r>
              <a:t>Cross-operator: requires spooling for object identity</a:t>
            </a:r>
          </a:p>
          <a:p>
            <a:pPr>
              <a:defRPr sz="1400"/>
            </a:pPr>
            <a:r>
              <a:t>2. Sub-Expression Sharing via Spools</a:t>
            </a:r>
          </a:p>
          <a:p>
            <a:pPr lvl="1">
              <a:defRPr sz="1200"/>
            </a:pPr>
            <a:r>
              <a:t>Identify identical sub-plans across Combine children</a:t>
            </a:r>
          </a:p>
          <a:p>
            <a:pPr lvl="1">
              <a:defRPr sz="1200"/>
            </a:pPr>
            <a:r>
              <a:t>First occurrence -&gt; spool; duplicates -&gt; spool read</a:t>
            </a:r>
          </a:p>
          <a:p>
            <a:pPr>
              <a:defRPr sz="1400"/>
            </a:pPr>
            <a:r>
              <a:t>3. Shared-Prefix Execution</a:t>
            </a:r>
          </a:p>
          <a:p>
            <a:pPr lvl="1">
              <a:defRPr sz="1200"/>
            </a:pPr>
            <a:r>
              <a:t>Fingerprint join variables to find shared prefixes</a:t>
            </a:r>
          </a:p>
          <a:p>
            <a:pPr lvl="1">
              <a:defRPr sz="1200"/>
            </a:pPr>
            <a:r>
              <a:t>Compute prefix once, distribute to per-query suffix executors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Results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with Graph Size (N=5 queries)</a:t>
            </a:r>
          </a:p>
        </p:txBody>
      </p:sp>
      <p:pic>
        <p:nvPicPr>
          <p:cNvPr id="3" name="Picture 2" descr="scal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1907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Multi-Query Speedup (|V|=200, |E|=2000)</a:t>
            </a:r>
          </a:p>
        </p:txBody>
      </p:sp>
      <p:pic>
        <p:nvPicPr>
          <p:cNvPr id="3" name="Picture 2" descr="batch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1907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Per-Query Amortized Cost</a:t>
            </a:r>
          </a:p>
        </p:txBody>
      </p:sp>
      <p:pic>
        <p:nvPicPr>
          <p:cNvPr id="3" name="Picture 2" descr="batch_perqu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1907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Optimization Contributions</a:t>
            </a:r>
          </a:p>
        </p:txBody>
      </p:sp>
      <p:pic>
        <p:nvPicPr>
          <p:cNvPr id="3" name="Picture 2" descr="con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TPC-H: Self-Join Cyclic Queries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Lineitem self-joins at SF=0.01, N=5 projection variations</a:t>
            </a:r>
          </a:p>
          <a:p>
            <a:pPr>
              <a:defRPr sz="1400"/>
            </a:pPr>
            <a:r>
              <a:t>Self-join triangle (2.9M rows):</a:t>
            </a:r>
          </a:p>
          <a:p>
            <a:pPr lvl="1">
              <a:defRPr sz="1200"/>
            </a:pPr>
            <a:r>
              <a:t>Baseline: 4023 ms, WCOJ: 2267 ms (1.8x), Combine: 2120 ms (1.9x)</a:t>
            </a:r>
          </a:p>
          <a:p>
            <a:pPr>
              <a:defRPr sz="1400"/>
            </a:pPr>
            <a:r>
              <a:t>Self-join 4-cycle (6.0M rows):</a:t>
            </a:r>
          </a:p>
          <a:p>
            <a:pPr lvl="1">
              <a:defRPr sz="1200"/>
            </a:pPr>
            <a:r>
              <a:t>Baseline: 109,443 ms, WCOJ: 46,529 ms (2.4x)</a:t>
            </a:r>
          </a:p>
          <a:p>
            <a:pPr lvl="1">
              <a:defRPr sz="1200"/>
            </a:pPr>
            <a:r>
              <a:t>Binary joins OOM on this query; WCOJ completes in 47s</a:t>
            </a:r>
          </a:p>
          <a:p>
            <a:pPr lvl="1">
              <a:defRPr sz="1200"/>
            </a:pPr>
            <a:r>
              <a:t>Combine-binary: OOM (4 GB heap)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TPC-H Self-Join Performance</a:t>
            </a:r>
          </a:p>
        </p:txBody>
      </p:sp>
      <p:pic>
        <p:nvPicPr>
          <p:cNvPr id="3" name="Picture 2" descr="tpch_selfjo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TPC-H: FK Cyclic Queries (WCOJ Loses)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FK cycles closed by low-cardinality nationkey (25 values)</a:t>
            </a:r>
          </a:p>
          <a:p>
            <a:pPr>
              <a:defRPr sz="1400"/>
            </a:pPr>
            <a:r>
              <a:t>FK rectangle -- customer-orders-lineitem-supplier (11.7K rows):</a:t>
            </a:r>
          </a:p>
          <a:p>
            <a:pPr lvl="1">
              <a:defRPr sz="1200"/>
            </a:pPr>
            <a:r>
              <a:t>Baseline: 902 ms, WCOJ: 1381 ms (1.5x slower)</a:t>
            </a:r>
          </a:p>
          <a:p>
            <a:pPr>
              <a:defRPr sz="1400"/>
            </a:pPr>
            <a:r>
              <a:t>FK diamond -- c-o-l-s-nation (11.7K rows):</a:t>
            </a:r>
          </a:p>
          <a:p>
            <a:pPr lvl="1">
              <a:defRPr sz="1200"/>
            </a:pPr>
            <a:r>
              <a:t>Baseline: 2096 ms, WCOJ: 8141 ms (3.9x slower)</a:t>
            </a:r>
          </a:p>
          <a:p>
            <a:pPr lvl="1">
              <a:defRPr sz="1200"/>
            </a:pPr>
            <a:r>
              <a:t>Combine: 15.8s, Combine-Share: 13.2s (materialization overhead)</a:t>
            </a:r>
          </a:p>
          <a:p>
            <a:pPr>
              <a:defRPr sz="1400"/>
            </a:pPr>
            <a:r>
              <a:t>Why? Binary joins prune early via selective FK constraints</a:t>
            </a:r>
          </a:p>
          <a:p>
            <a:pPr lvl="1">
              <a:defRPr sz="1200"/>
            </a:pPr>
            <a:r>
              <a:t>WCOJ pays intersection cost at every level regardless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TPC-H FK Cycle Performance</a:t>
            </a:r>
          </a:p>
        </p:txBody>
      </p:sp>
      <p:pic>
        <p:nvPicPr>
          <p:cNvPr id="3" name="Picture 2" descr="tpch_f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WCOJ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300"/>
            </a:pPr>
            <a:r>
              <a:t>WCOJ wins when:</a:t>
            </a:r>
          </a:p>
          <a:p>
            <a:pPr lvl="1">
              <a:defRPr sz="1100"/>
            </a:pPr>
            <a:r>
              <a:t>Query is cyclic (GYO reduction)</a:t>
            </a:r>
          </a:p>
          <a:p>
            <a:pPr lvl="1">
              <a:defRPr sz="1100"/>
            </a:pPr>
            <a:r>
              <a:t>Intermediates &gt;&gt; final output</a:t>
            </a:r>
          </a:p>
          <a:p>
            <a:pPr lvl="1">
              <a:defRPr sz="1100"/>
            </a:pPr>
            <a:r>
              <a:t>Self-joins with high fan-out</a:t>
            </a:r>
          </a:p>
          <a:p>
            <a:pPr lvl="1">
              <a:defRPr sz="1100"/>
            </a:pPr>
            <a:r>
              <a:t>Closing predicate is not highly selective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>
              <a:defRPr sz="1300"/>
            </a:pPr>
            <a:r>
              <a:t>WCOJ loses when:</a:t>
            </a:r>
          </a:p>
          <a:p>
            <a:pPr lvl="1">
              <a:defRPr sz="1100"/>
            </a:pPr>
            <a:r>
              <a:t>FK cycles with selective closing predicates</a:t>
            </a:r>
          </a:p>
          <a:p>
            <a:pPr lvl="1">
              <a:defRPr sz="1100"/>
            </a:pPr>
            <a:r>
              <a:t>Low-cardinality keys (e.g., nationkey)</a:t>
            </a:r>
          </a:p>
          <a:p>
            <a:pPr lvl="1">
              <a:defRPr sz="1100"/>
            </a:pPr>
            <a:r>
              <a:t>Binary joins can prune early</a:t>
            </a:r>
          </a:p>
          <a:p>
            <a:pPr lvl="1">
              <a:defRPr sz="1100"/>
            </a:pPr>
            <a:r>
              <a:t>Asymmetric table sizes favor chain execution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/>
            </a:pPr>
            <a:r>
              <a:t>First system combining WCOJ with multi-query optimization</a:t>
            </a:r>
          </a:p>
          <a:p>
            <a:pPr lvl="1">
              <a:defRPr sz="1200"/>
            </a:pPr>
            <a:r>
              <a:t>Up to 1.9x on self-join triangles, 2.4x on 4-cycles</a:t>
            </a:r>
          </a:p>
          <a:p>
            <a:pPr lvl="1">
              <a:defRPr sz="1200"/>
            </a:pPr>
            <a:r>
              <a:t>Enables queries that binary joins cannot complete (OOM)</a:t>
            </a:r>
          </a:p>
          <a:p>
            <a:pPr>
              <a:defRPr sz="1400"/>
            </a:pPr>
            <a:r>
              <a:t>WCOJ is not universally beneficial</a:t>
            </a:r>
          </a:p>
          <a:p>
            <a:pPr lvl="1">
              <a:defRPr sz="1200"/>
            </a:pPr>
            <a:r>
              <a:t>FK cycles: 1.5x-3.9x slower -- GYO detection avoids these</a:t>
            </a:r>
          </a:p>
          <a:p>
            <a:pPr>
              <a:defRPr sz="1400"/>
            </a:pPr>
            <a:r>
              <a:t>Future directions:</a:t>
            </a:r>
          </a:p>
          <a:p>
            <a:pPr lvl="1">
              <a:defRPr sz="1200"/>
            </a:pPr>
            <a:r>
              <a:t>Adaptive variable ordering for better prefix sharing</a:t>
            </a:r>
          </a:p>
          <a:p>
            <a:pPr lvl="1">
              <a:defRPr sz="1200"/>
            </a:pPr>
            <a:r>
              <a:t>Disk-spillable spools for large intermediates</a:t>
            </a:r>
          </a:p>
          <a:p>
            <a:pPr lvl="1">
              <a:defRPr sz="1200"/>
            </a:pPr>
            <a:r>
              <a:t>Hybrid plans: WCOJ for cyclic components, binary for acyclic</a:t>
            </a:r>
          </a:p>
          <a:p>
            <a:pPr lvl="1">
              <a:defRPr sz="1200"/>
            </a:pPr>
            <a:r>
              <a:t>Integration with Calcite's materialized view subsystem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